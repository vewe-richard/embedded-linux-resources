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0556" y="1457325"/>
            <a:ext cx="310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5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3143250" y="2562225"/>
            <a:ext cx="28575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97605" y="2886075"/>
            <a:ext cx="17487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Aft>
                <a:spcPts val="12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文明的基石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020556" y="3419475"/>
            <a:ext cx="31028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从黑客的梦想到改变世界的力量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1461" y="4724400"/>
            <a:ext cx="1748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嵌入式Linux基础课程 • 第1讲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50638" y="4724400"/>
            <a:ext cx="12772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主讲:经验26年工程师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4510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1991年8月25日:改变世界的邮件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751707"/>
            <a:ext cx="8382000" cy="1253430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751707"/>
            <a:ext cx="0" cy="1253430"/>
          </a:xfrm>
          <a:prstGeom prst="line">
            <a:avLst/>
          </a:prstGeom>
          <a:noFill/>
          <a:ln w="5715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1980307"/>
            <a:ext cx="8025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125" i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everybody out there using minix - I'm doing a (free) operating system (just a hobby, won't be big and professional like gnu)..."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09397" y="2589907"/>
            <a:ext cx="80250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Linus Torvalds, 21岁芬兰大学生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3195638"/>
            <a:ext cx="2692450" cy="1110555"/>
          </a:xfrm>
          <a:prstGeom prst="roundRect">
            <a:avLst>
              <a:gd name="adj" fmla="val 343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3386138"/>
            <a:ext cx="23576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背景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3687068"/>
            <a:ext cx="23576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当时Unix系统昂贵且封闭,学生只能用Minix学习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225850" y="3195638"/>
            <a:ext cx="2692450" cy="1110555"/>
          </a:xfrm>
          <a:prstGeom prst="roundRect">
            <a:avLst>
              <a:gd name="adj" fmla="val 3431"/>
            </a:avLst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6350" y="3386138"/>
            <a:ext cx="23576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初心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16350" y="3687068"/>
            <a:ext cx="235767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只是为了好玩(just for fun),学习386处理器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070699" y="3195638"/>
            <a:ext cx="2692450" cy="1110555"/>
          </a:xfrm>
          <a:prstGeom prst="roundRect">
            <a:avLst>
              <a:gd name="adj" fmla="val 3431"/>
            </a:avLst>
          </a:prstGeom>
          <a:solidFill>
            <a:srgbClr val="F0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1199" y="3386138"/>
            <a:ext cx="235767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起点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1199" y="3687068"/>
            <a:ext cx="235767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0.01版本,仅有10,239行代码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81000" y="4762500"/>
            <a:ext cx="2164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从一个学生的课外项目,到支撑现代世界的操作系统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315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Linux成长简史:从10K到千万行代码</a:t>
            </a:r>
            <a:endParaRPr lang="en-US" sz="3600" dirty="0"/>
          </a:p>
        </p:txBody>
      </p:sp>
      <p:pic>
        <p:nvPicPr>
          <p:cNvPr id="3" name="Image 0" descr="/tmp/rasterized-gradient-a11775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4093"/>
            <a:ext cx="38100" cy="3528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74093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0A4D8F"/>
          </a:solidFill>
          <a:ln w="28575">
            <a:solidFill>
              <a:srgbClr val="F8F9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" y="1074093"/>
            <a:ext cx="8096250" cy="599033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9150" y="1188393"/>
            <a:ext cx="7947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 • 诞生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819150" y="1397943"/>
            <a:ext cx="7947279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0.01版本发布,支持基本功能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57200" y="1806476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1A6BB8"/>
          </a:solidFill>
          <a:ln w="28575">
            <a:solidFill>
              <a:srgbClr val="F8F9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6750" y="1806476"/>
            <a:ext cx="8096250" cy="599033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9150" y="1920776"/>
            <a:ext cx="7947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6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1994 • 成熟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19150" y="2130326"/>
            <a:ext cx="7947279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1.0版本,成为真正可用的操作系统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457200" y="2538859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67E22"/>
          </a:solidFill>
          <a:ln w="28575">
            <a:solidFill>
              <a:srgbClr val="F8F9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6750" y="2538859"/>
            <a:ext cx="8096250" cy="599033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19150" y="2653159"/>
            <a:ext cx="7947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2000s • 崛起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19150" y="2862709"/>
            <a:ext cx="7947279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互联网时代的主宰,服务器市场占主导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57200" y="327124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FF6B35"/>
          </a:solidFill>
          <a:ln w="28575">
            <a:solidFill>
              <a:srgbClr val="F8F9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6750" y="3271242"/>
            <a:ext cx="8096250" cy="599033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19150" y="3385542"/>
            <a:ext cx="7947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 • 移动革命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819150" y="3595092"/>
            <a:ext cx="7947279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Android发布,Linux进入数十亿人口袋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57200" y="400362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7AE60"/>
          </a:solidFill>
          <a:ln w="28575">
            <a:solidFill>
              <a:srgbClr val="F8F9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6750" y="4003625"/>
            <a:ext cx="8096250" cy="599033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19150" y="4117925"/>
            <a:ext cx="7947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2020s • 无处不在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819150" y="4327475"/>
            <a:ext cx="7947279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云计算、物联网、超算的基础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381000" y="4762500"/>
            <a:ext cx="2807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现在Linux内核超过2800万行代码,有来自全球数万名开发者的贡献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946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Linux统治的世界:无处不在的企鹅</a:t>
            </a:r>
            <a:endParaRPr lang="en-US" sz="3600" dirty="0"/>
          </a:p>
        </p:txBody>
      </p:sp>
      <p:pic>
        <p:nvPicPr>
          <p:cNvPr id="3" name="Image 0" descr="/tmp/rasterized-gradient-a79a96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94172"/>
            <a:ext cx="4114800" cy="14608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184672"/>
            <a:ext cx="380847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71500" y="1820912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超级计算机TOP500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91333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全球最快的500台超算全运行Linux</a:t>
            </a:r>
            <a:endParaRPr lang="en-US" sz="975" dirty="0"/>
          </a:p>
        </p:txBody>
      </p:sp>
      <p:pic>
        <p:nvPicPr>
          <p:cNvPr id="7" name="Image 1" descr="/tmp/rasterized-gradient-631b0e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994172"/>
            <a:ext cx="4114800" cy="14608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8700" y="1184672"/>
            <a:ext cx="380847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96%+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4838700" y="1820912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互联网服务器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38700" y="2091333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Google、Amazon等的基础设施</a:t>
            </a:r>
            <a:endParaRPr lang="en-US" sz="975" dirty="0"/>
          </a:p>
        </p:txBody>
      </p:sp>
      <p:pic>
        <p:nvPicPr>
          <p:cNvPr id="11" name="Image 2" descr="/tmp/rasterized-gradient-2eac289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607469"/>
            <a:ext cx="4114800" cy="14608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500" y="2797969"/>
            <a:ext cx="380847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3150" dirty="0"/>
          </a:p>
        </p:txBody>
      </p:sp>
      <p:sp>
        <p:nvSpPr>
          <p:cNvPr id="13" name="Text 8"/>
          <p:cNvSpPr/>
          <p:nvPr/>
        </p:nvSpPr>
        <p:spPr>
          <a:xfrm>
            <a:off x="571500" y="3434209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智能手机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71500" y="3704630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Android设备,超30亿部使用</a:t>
            </a:r>
            <a:endParaRPr lang="en-US" sz="975" dirty="0"/>
          </a:p>
        </p:txBody>
      </p:sp>
      <p:pic>
        <p:nvPicPr>
          <p:cNvPr id="15" name="Image 3" descr="/tmp/rasterized-gradient-5e4400f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2607469"/>
            <a:ext cx="4114800" cy="14608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38700" y="2797969"/>
            <a:ext cx="3808476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Aft>
                <a:spcPts val="6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数十亿</a:t>
            </a:r>
            <a:endParaRPr lang="en-US" sz="3150" dirty="0"/>
          </a:p>
        </p:txBody>
      </p:sp>
      <p:sp>
        <p:nvSpPr>
          <p:cNvPr id="17" name="Text 11"/>
          <p:cNvSpPr/>
          <p:nvPr/>
        </p:nvSpPr>
        <p:spPr>
          <a:xfrm>
            <a:off x="4838700" y="3434209"/>
            <a:ext cx="38084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嵌入式设备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38700" y="3704630"/>
            <a:ext cx="3808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路由器、电视、汽车...</a:t>
            </a:r>
            <a:endParaRPr lang="en-US" sz="975" dirty="0"/>
          </a:p>
        </p:txBody>
      </p:sp>
      <p:sp>
        <p:nvSpPr>
          <p:cNvPr id="19" name="Text 13"/>
          <p:cNvSpPr/>
          <p:nvPr/>
        </p:nvSpPr>
        <p:spPr>
          <a:xfrm>
            <a:off x="381000" y="4220766"/>
            <a:ext cx="8382000" cy="557213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09600" y="4392216"/>
            <a:ext cx="80832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🐧 趣事: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国际空间站、SpaceX火箭都用Linux!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381000" y="4762500"/>
            <a:ext cx="24237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从手机到火箭,从冰箱到超级计算机,Linux真正改变了世界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013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开源的力量:Linux成功的秘密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009501"/>
            <a:ext cx="2679650" cy="1500783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9575" y="1009501"/>
            <a:ext cx="0" cy="1500783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1200001"/>
            <a:ext cx="228633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8650" y="1702891"/>
            <a:ext cx="22863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全球协作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628650" y="1973312"/>
            <a:ext cx="228633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全球开发者共同贡献,集体智慧超越任何单一公司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32100" y="1009501"/>
            <a:ext cx="2679650" cy="1500783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60675" y="1009501"/>
            <a:ext cx="0" cy="1500783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9750" y="1200001"/>
            <a:ext cx="228633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9750" y="1702891"/>
            <a:ext cx="22863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自由开放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3479750" y="1973312"/>
            <a:ext cx="228633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任何人都可查看、修改代码,透明带来高质量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83201" y="1009501"/>
            <a:ext cx="2679650" cy="1500783"/>
          </a:xfrm>
          <a:prstGeom prst="roundRect">
            <a:avLst>
              <a:gd name="adj" fmla="val 5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11776" y="1009501"/>
            <a:ext cx="0" cy="1500783"/>
          </a:xfrm>
          <a:prstGeom prst="line">
            <a:avLst/>
          </a:prstGeom>
          <a:noFill/>
          <a:ln w="5715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0851" y="1200001"/>
            <a:ext cx="228633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30851" y="1702891"/>
            <a:ext cx="2286330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快速迭代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330851" y="1973312"/>
            <a:ext cx="2286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每天都有更新,bug修复迅速</a:t>
            </a:r>
            <a:endParaRPr lang="en-US" sz="975" dirty="0"/>
          </a:p>
        </p:txBody>
      </p:sp>
      <p:pic>
        <p:nvPicPr>
          <p:cNvPr id="18" name="Image 0" descr="/tmp/rasterized-gradient-f4bf59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681734"/>
            <a:ext cx="8382000" cy="114567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09600" y="2872234"/>
            <a:ext cx="808329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Linus定律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09600" y="3173164"/>
            <a:ext cx="808329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600"/>
              </a:spcAft>
              <a:buNone/>
            </a:pPr>
            <a:r>
              <a:rPr lang="en-US" sz="112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"足够多的眼睛,就可让所有问题浮现"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09600" y="3463677"/>
            <a:ext cx="80832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全球数万名开发者审查代码,发现并修复问题的速度远超封闭系统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381000" y="3998863"/>
            <a:ext cx="2717750" cy="668536"/>
          </a:xfrm>
          <a:prstGeom prst="roundRect">
            <a:avLst>
              <a:gd name="adj" fmla="val 854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50977" y="4094113"/>
            <a:ext cx="257779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0A4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450977" y="442555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贡献者/年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213050" y="3998863"/>
            <a:ext cx="2717750" cy="668536"/>
          </a:xfrm>
          <a:prstGeom prst="roundRect">
            <a:avLst>
              <a:gd name="adj" fmla="val 8549"/>
            </a:avLst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283028" y="4094113"/>
            <a:ext cx="257779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1,500+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3283028" y="442555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公司参与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6045101" y="3998863"/>
            <a:ext cx="2717750" cy="668536"/>
          </a:xfrm>
          <a:prstGeom prst="roundRect">
            <a:avLst>
              <a:gd name="adj" fmla="val 8549"/>
            </a:avLst>
          </a:prstGeom>
          <a:solidFill>
            <a:srgbClr val="F0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15078" y="4094113"/>
            <a:ext cx="2577795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6115078" y="4425553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每小时提交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81000" y="4762500"/>
            <a:ext cx="29422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包括Google、IBM、Intel、华为等科技巨头都在为Linux内核贡献代码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3429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"/>
              </a:spcAft>
              <a:buNone/>
            </a:pPr>
            <a:r>
              <a:rPr lang="en-US" sz="270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vs Windows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02829"/>
            <a:ext cx="4105275" cy="446484"/>
          </a:xfrm>
          <a:prstGeom prst="roundRect">
            <a:avLst>
              <a:gd name="adj" fmla="val 17067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52372" y="1336179"/>
            <a:ext cx="196253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7"/>
              </a:lnSpc>
              <a:buNone/>
            </a:pPr>
            <a:r>
              <a:rPr lang="en-US" sz="1275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🐧 Linux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4657725" y="1202829"/>
            <a:ext cx="4105275" cy="446484"/>
          </a:xfrm>
          <a:prstGeom prst="roundRect">
            <a:avLst>
              <a:gd name="adj" fmla="val 17067"/>
            </a:avLst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29097" y="1336179"/>
            <a:ext cx="196253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7"/>
              </a:lnSpc>
              <a:buNone/>
            </a:pPr>
            <a:r>
              <a:rPr lang="en-US" sz="1275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🪟 Windows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381000" y="1763613"/>
            <a:ext cx="4105275" cy="660946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9050">
            <a:solidFill>
              <a:srgbClr val="E8F4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1916013"/>
            <a:ext cx="3876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开源性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33400" y="2135088"/>
            <a:ext cx="387648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完全开源,代码透明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57725" y="1763613"/>
            <a:ext cx="4105275" cy="660946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9050">
            <a:solidFill>
              <a:srgbClr val="FFF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0125" y="1963638"/>
            <a:ext cx="387648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闭源,代码不公开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538859"/>
            <a:ext cx="4105275" cy="660946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9050">
            <a:solidFill>
              <a:srgbClr val="E8F4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2691259"/>
            <a:ext cx="3876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费用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33400" y="2910334"/>
            <a:ext cx="387648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完全免费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57725" y="2538859"/>
            <a:ext cx="4105275" cy="660946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9050">
            <a:solidFill>
              <a:srgbClr val="FFF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2738884"/>
            <a:ext cx="387648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需购买许可证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314105"/>
            <a:ext cx="4105275" cy="660946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9050">
            <a:solidFill>
              <a:srgbClr val="E8F4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3466505"/>
            <a:ext cx="38764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75"/>
              </a:spcAft>
              <a:buNone/>
            </a:pPr>
            <a:r>
              <a:rPr lang="en-US" sz="975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适用场景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33400" y="3685580"/>
            <a:ext cx="387648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服务器、嵌入式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57725" y="3314105"/>
            <a:ext cx="4105275" cy="660946"/>
          </a:xfrm>
          <a:prstGeom prst="roundRect">
            <a:avLst>
              <a:gd name="adj" fmla="val 8647"/>
            </a:avLst>
          </a:prstGeom>
          <a:solidFill>
            <a:srgbClr val="FFFFFF"/>
          </a:solidFill>
          <a:ln w="19050">
            <a:solidFill>
              <a:srgbClr val="FFF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5" y="3514130"/>
            <a:ext cx="387648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桌面办公、游戏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4089350"/>
            <a:ext cx="8382000" cy="365671"/>
          </a:xfrm>
          <a:prstGeom prst="roundRect">
            <a:avLst>
              <a:gd name="adj" fmla="val 15629"/>
            </a:avLst>
          </a:prstGeom>
          <a:solidFill>
            <a:srgbClr val="FFFBF0"/>
          </a:solidFill>
          <a:ln w="19050">
            <a:solidFill>
              <a:srgbClr val="FFD23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3400" y="4203650"/>
            <a:ext cx="823874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关键:</a:t>
            </a:r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Linux和Windows互补,开发者应掌握Linux!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4762500"/>
            <a:ext cx="2013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许多开发者同时使用Linux和Windows,各取所长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9257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A4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Linux的未来与学习资源</a:t>
            </a:r>
            <a:endParaRPr lang="en-US" sz="3600" dirty="0"/>
          </a:p>
        </p:txBody>
      </p:sp>
      <p:pic>
        <p:nvPicPr>
          <p:cNvPr id="3" name="Image 0" descr="/tmp/rasterized-gradient-2dd164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22040"/>
            <a:ext cx="409575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550640"/>
            <a:ext cx="37113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9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09600" y="2198340"/>
            <a:ext cx="3711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Linux的未来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600" y="2522190"/>
            <a:ext cx="37113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AI、云计算、物联网的基础设施。掌握Linux就是掌握未来科技的钥匙。</a:t>
            </a:r>
            <a:endParaRPr lang="en-US" sz="1050" dirty="0"/>
          </a:p>
        </p:txBody>
      </p:sp>
      <p:pic>
        <p:nvPicPr>
          <p:cNvPr id="7" name="Image 1" descr="/tmp/rasterized-gradient-698b3b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322040"/>
            <a:ext cx="409575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5850" y="1550640"/>
            <a:ext cx="37113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9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4895850" y="2198340"/>
            <a:ext cx="3711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在线学习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95850" y="2522190"/>
            <a:ext cx="371132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LinuxCommand.org、OverTheWire - 浏览器里直接练习Linux命令!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81000" y="3341340"/>
            <a:ext cx="8382000" cy="1394371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2857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38175" y="3598515"/>
            <a:ext cx="8025003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spcAft>
                <a:spcPts val="1050"/>
              </a:spcAft>
              <a:buNone/>
            </a:pPr>
            <a:r>
              <a:rPr lang="en-US" sz="165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为什么要学Linux?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38175" y="3983236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职业发展:</a:t>
            </a:r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运维、后端、嵌入式开发必备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638175" y="4278511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技术理解: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深入理解计算机系统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4686300" y="3983236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工具强大:</a:t>
            </a:r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命令行效率超高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4686300" y="4278511"/>
            <a:ext cx="3895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未来趋势:</a:t>
            </a:r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云计算、AI的基础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381000" y="4762500"/>
            <a:ext cx="14251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学习Linux,站在科技巨人的肩膀上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4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8794" y="806797"/>
            <a:ext cx="32061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准备好了吗?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66851" y="1568797"/>
            <a:ext cx="3810000" cy="28575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8709" y="1883122"/>
            <a:ext cx="456628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75"/>
              </a:lnSpc>
              <a:spcAft>
                <a:spcPts val="18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下节课,我们将真正进入Linux的世界</a:t>
            </a:r>
            <a:endParaRPr lang="en-US" sz="2250" dirty="0"/>
          </a:p>
          <a:p>
            <a:pPr algn="ctr" indent="0" marL="0">
              <a:lnSpc>
                <a:spcPts val="3375"/>
              </a:lnSpc>
              <a:spcAft>
                <a:spcPts val="18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一起探索命令行的魔法!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23802" y="3026122"/>
            <a:ext cx="4496246" cy="1310580"/>
          </a:xfrm>
          <a:prstGeom prst="roundRect">
            <a:avLst>
              <a:gd name="adj" fmla="val 726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9736" y="3216622"/>
            <a:ext cx="3964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课后作业(可选):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89736" y="3597622"/>
            <a:ext cx="396437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访问推荐的在线Linux平台,尝试运行你的第一个命令</a:t>
            </a:r>
            <a:endParaRPr lang="en-US" sz="135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思考:Linux对你未来的职业发展有什么帮助?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4335" y="4324350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感谢聆听!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4335" y="4667250"/>
            <a:ext cx="8355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让我们一起在Linux的世界中成长 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第1讲: Linux,文明的基石</dc:title>
  <dc:subject>PptxGenJS Presentation</dc:subject>
  <dc:creator>嵌入式Linux课程</dc:creator>
  <cp:lastModifiedBy>嵌入式Linux课程</cp:lastModifiedBy>
  <cp:revision>1</cp:revision>
  <dcterms:created xsi:type="dcterms:W3CDTF">2025-12-28T03:04:52Z</dcterms:created>
  <dcterms:modified xsi:type="dcterms:W3CDTF">2025-12-28T03:04:52Z</dcterms:modified>
</cp:coreProperties>
</file>